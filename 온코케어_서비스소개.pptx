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charts/chart1.xml" ContentType="application/vnd.openxmlformats-officedocument.drawingml.chart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잔차 표준편차(%p)</c:v>
                </c:pt>
              </c:strCache>
            </c:strRef>
          </c:tx>
          <c:spPr>
            <a:solidFill>
              <a:srgbClr val="008080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900" u="none">
                    <a:solidFill>
                      <a:srgbClr val="222222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Sheet1!$A$2:$A$7</c:f>
              <c:multiLvlStrCache>
                <c:ptCount val="6"/>
                <c:lvl>
                  <c:pt idx="0">
                    <c:v>위암</c:v>
                  </c:pt>
                  <c:pt idx="1">
                    <c:v>유방암</c:v>
                  </c:pt>
                  <c:pt idx="2">
                    <c:v>자궁경부암</c:v>
                  </c:pt>
                  <c:pt idx="3">
                    <c:v>대장암</c:v>
                  </c:pt>
                  <c:pt idx="4">
                    <c:v>간암</c:v>
                  </c:pt>
                  <c:pt idx="5">
                    <c:v>폐암</c:v>
                  </c:pt>
                </c:lvl>
              </c:multiLvlStrCache>
            </c:multiLvl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3.94</c:v>
                </c:pt>
                <c:pt idx="1">
                  <c:v>3.96</c:v>
                </c:pt>
                <c:pt idx="2">
                  <c:v>4.21</c:v>
                </c:pt>
                <c:pt idx="3">
                  <c:v>4.31</c:v>
                </c:pt>
                <c:pt idx="4">
                  <c:v>7.69</c:v>
                </c:pt>
                <c:pt idx="5">
                  <c:v>14.24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900" u="none">
                  <a:solidFill>
                    <a:srgbClr val="222222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35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222222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1"/>
        <c:axPos val="l"/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solidFill>
          <a:srgbClr val="FFFFFF"/>
        </a:solidFill>
        <a:ln>
          <a:noFill/>
        </a:ln>
        <a:effectLst/>
      </c:spPr>
    </c:plotArea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63A5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692640" y="-1097280"/>
            <a:ext cx="4114800" cy="4114800"/>
          </a:xfrm>
          <a:prstGeom prst="ellipse">
            <a:avLst/>
          </a:prstGeom>
          <a:solidFill>
            <a:srgbClr val="1F4E78"/>
          </a:solidFill>
          <a:ln/>
        </p:spPr>
      </p:sp>
      <p:sp>
        <p:nvSpPr>
          <p:cNvPr id="3" name="Shape 1"/>
          <p:cNvSpPr/>
          <p:nvPr/>
        </p:nvSpPr>
        <p:spPr>
          <a:xfrm>
            <a:off x="10881360" y="4206240"/>
            <a:ext cx="2926080" cy="2926080"/>
          </a:xfrm>
          <a:prstGeom prst="ellipse">
            <a:avLst/>
          </a:prstGeom>
          <a:solidFill>
            <a:srgbClr val="1A6E6E"/>
          </a:solidFill>
          <a:ln/>
        </p:spPr>
      </p:sp>
      <p:sp>
        <p:nvSpPr>
          <p:cNvPr id="4" name="Text 2"/>
          <p:cNvSpPr/>
          <p:nvPr/>
        </p:nvSpPr>
        <p:spPr>
          <a:xfrm>
            <a:off x="731520" y="1920240"/>
            <a:ext cx="868680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46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6대암 국가검진 예산,</a:t>
            </a:r>
            <a:endParaRPr lang="en-US" sz="4000" dirty="0"/>
          </a:p>
          <a:p>
            <a:pPr indent="0" marL="0">
              <a:lnSpc>
                <a:spcPts val="46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어디로 가야 하는가</a:t>
            </a:r>
            <a:endParaRPr lang="en-US" sz="4000" dirty="0"/>
          </a:p>
        </p:txBody>
      </p:sp>
      <p:sp>
        <p:nvSpPr>
          <p:cNvPr id="5" name="Text 3"/>
          <p:cNvSpPr/>
          <p:nvPr/>
        </p:nvSpPr>
        <p:spPr>
          <a:xfrm>
            <a:off x="731520" y="3703320"/>
            <a:ext cx="89611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온코케어(OncoCare) — 공공데이터 기반 검진 예산 진단·실행·검증 서비스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777240" y="4343400"/>
            <a:ext cx="2011680" cy="0"/>
          </a:xfrm>
          <a:prstGeom prst="line">
            <a:avLst/>
          </a:prstGeom>
          <a:noFill/>
          <a:ln w="25400">
            <a:solidFill>
              <a:srgbClr val="4FA8A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31520" y="598932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9FB3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국립암센터 · 보건복지부 · 지역암센터 · 시도 · 보건소를 위한 B2G 웹서비스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11155680" y="6263640"/>
            <a:ext cx="822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9FB3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F4E7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왜 필요한가 — 세 가지 문제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96012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B76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담당자가 예산을 어디에 써야 할지 판단할 근거가 없다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3520440" cy="4343400"/>
          </a:xfrm>
          <a:prstGeom prst="roundRect">
            <a:avLst>
              <a:gd name="adj" fmla="val 2078"/>
            </a:avLst>
          </a:prstGeom>
          <a:solidFill>
            <a:srgbClr val="F2F4F7"/>
          </a:solidFill>
          <a:ln/>
          <a:effectLst>
            <a:outerShdw sx="100000" sy="100000" kx="0" ky="0" algn="bl" rotWithShape="0" blurRad="76200" dist="25400" dir="5400000">
              <a:srgbClr val="999999">
                <a:alpha val="2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22960" y="1874520"/>
            <a:ext cx="594360" cy="594360"/>
          </a:xfrm>
          <a:prstGeom prst="ellipse">
            <a:avLst/>
          </a:prstGeom>
          <a:solidFill>
            <a:srgbClr val="1F4E78"/>
          </a:solidFill>
          <a:ln/>
        </p:spPr>
      </p:sp>
      <p:sp>
        <p:nvSpPr>
          <p:cNvPr id="6" name="Text 4"/>
          <p:cNvSpPr/>
          <p:nvPr/>
        </p:nvSpPr>
        <p:spPr>
          <a:xfrm>
            <a:off x="822960" y="1874520"/>
            <a:ext cx="594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822960" y="2651760"/>
            <a:ext cx="29718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900"/>
              </a:lnSpc>
              <a:buNone/>
            </a:pPr>
            <a:r>
              <a:rPr lang="en-US" sz="1600" b="1" dirty="0">
                <a:solidFill>
                  <a:srgbClr val="2222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지역끼리 비교가 안 된다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822960" y="3429000"/>
            <a:ext cx="2971800" cy="1417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15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도시와 농촌, 부자 동네와 그렇지 않은 동네를 같은 잣대로 비교하면</a:t>
            </a:r>
            <a:endParaRPr lang="en-US" sz="1150" dirty="0"/>
          </a:p>
          <a:p>
            <a:pPr indent="0" marL="0">
              <a:lnSpc>
                <a:spcPts val="1600"/>
              </a:lnSpc>
              <a:buNone/>
            </a:pPr>
            <a:r>
              <a:rPr lang="en-US" sz="115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애초에 불리한 지역이 항상 꼴찌가 된다.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822960" y="4937760"/>
            <a:ext cx="2971800" cy="822960"/>
          </a:xfrm>
          <a:prstGeom prst="roundRect">
            <a:avLst>
              <a:gd name="adj" fmla="val 6667"/>
            </a:avLst>
          </a:prstGeom>
          <a:solidFill>
            <a:srgbClr val="008080"/>
          </a:solidFill>
          <a:ln/>
        </p:spPr>
      </p:sp>
      <p:sp>
        <p:nvSpPr>
          <p:cNvPr id="10" name="Text 8"/>
          <p:cNvSpPr/>
          <p:nvPr/>
        </p:nvSpPr>
        <p:spPr>
          <a:xfrm>
            <a:off x="960120" y="4937760"/>
            <a:ext cx="26974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여건이 비슷한 20곳을 자동으로 찾아 비교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4325112" y="1600200"/>
            <a:ext cx="3520440" cy="4343400"/>
          </a:xfrm>
          <a:prstGeom prst="roundRect">
            <a:avLst>
              <a:gd name="adj" fmla="val 2078"/>
            </a:avLst>
          </a:prstGeom>
          <a:solidFill>
            <a:srgbClr val="F2F4F7"/>
          </a:solidFill>
          <a:ln/>
          <a:effectLst>
            <a:outerShdw sx="100000" sy="100000" kx="0" ky="0" algn="bl" rotWithShape="0" blurRad="76200" dist="25400" dir="5400000">
              <a:srgbClr val="999999">
                <a:alpha val="25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4599432" y="1874520"/>
            <a:ext cx="594360" cy="594360"/>
          </a:xfrm>
          <a:prstGeom prst="ellipse">
            <a:avLst/>
          </a:prstGeom>
          <a:solidFill>
            <a:srgbClr val="1F4E78"/>
          </a:solidFill>
          <a:ln/>
        </p:spPr>
      </p:sp>
      <p:sp>
        <p:nvSpPr>
          <p:cNvPr id="13" name="Text 11"/>
          <p:cNvSpPr/>
          <p:nvPr/>
        </p:nvSpPr>
        <p:spPr>
          <a:xfrm>
            <a:off x="4599432" y="1874520"/>
            <a:ext cx="594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4599432" y="2651760"/>
            <a:ext cx="29718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900"/>
              </a:lnSpc>
              <a:buNone/>
            </a:pPr>
            <a:r>
              <a:rPr lang="en-US" sz="1600" b="1" dirty="0">
                <a:solidFill>
                  <a:srgbClr val="2222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원인을 잘못 짚을 수 있다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4599432" y="3429000"/>
            <a:ext cx="2971800" cy="1417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15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수검률이 낮은 이유가 '검진기관이 없어서'인지 '원래 소득이 낮은</a:t>
            </a:r>
            <a:endParaRPr lang="en-US" sz="1150" dirty="0"/>
          </a:p>
          <a:p>
            <a:pPr indent="0" marL="0">
              <a:lnSpc>
                <a:spcPts val="1600"/>
              </a:lnSpc>
              <a:buNone/>
            </a:pPr>
            <a:r>
              <a:rPr lang="en-US" sz="115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지역이라서'인지 구분하지 못하면 엉뚱한 데 예산을 쓴다.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4599432" y="4937760"/>
            <a:ext cx="2971800" cy="822960"/>
          </a:xfrm>
          <a:prstGeom prst="roundRect">
            <a:avLst>
              <a:gd name="adj" fmla="val 6667"/>
            </a:avLst>
          </a:prstGeom>
          <a:solidFill>
            <a:srgbClr val="008080"/>
          </a:solidFill>
          <a:ln/>
        </p:spPr>
      </p:sp>
      <p:sp>
        <p:nvSpPr>
          <p:cNvPr id="17" name="Text 15"/>
          <p:cNvSpPr/>
          <p:nvPr/>
        </p:nvSpPr>
        <p:spPr>
          <a:xfrm>
            <a:off x="4736592" y="4937760"/>
            <a:ext cx="26974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도농×소득 9개 층으로 나눠 조건을 통제하고 비교</a:t>
            </a:r>
            <a:endParaRPr lang="en-US" sz="1150" dirty="0"/>
          </a:p>
        </p:txBody>
      </p:sp>
      <p:sp>
        <p:nvSpPr>
          <p:cNvPr id="18" name="Shape 16"/>
          <p:cNvSpPr/>
          <p:nvPr/>
        </p:nvSpPr>
        <p:spPr>
          <a:xfrm>
            <a:off x="8101584" y="1600200"/>
            <a:ext cx="3520440" cy="4343400"/>
          </a:xfrm>
          <a:prstGeom prst="roundRect">
            <a:avLst>
              <a:gd name="adj" fmla="val 2078"/>
            </a:avLst>
          </a:prstGeom>
          <a:solidFill>
            <a:srgbClr val="F2F4F7"/>
          </a:solidFill>
          <a:ln/>
          <a:effectLst>
            <a:outerShdw sx="100000" sy="100000" kx="0" ky="0" algn="bl" rotWithShape="0" blurRad="76200" dist="25400" dir="5400000">
              <a:srgbClr val="999999">
                <a:alpha val="25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8375904" y="1874520"/>
            <a:ext cx="594360" cy="594360"/>
          </a:xfrm>
          <a:prstGeom prst="ellipse">
            <a:avLst/>
          </a:prstGeom>
          <a:solidFill>
            <a:srgbClr val="1F4E78"/>
          </a:solidFill>
          <a:ln/>
        </p:spPr>
      </p:sp>
      <p:sp>
        <p:nvSpPr>
          <p:cNvPr id="20" name="Text 18"/>
          <p:cNvSpPr/>
          <p:nvPr/>
        </p:nvSpPr>
        <p:spPr>
          <a:xfrm>
            <a:off x="8375904" y="1874520"/>
            <a:ext cx="594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8375904" y="2651760"/>
            <a:ext cx="29718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900"/>
              </a:lnSpc>
              <a:buNone/>
            </a:pPr>
            <a:r>
              <a:rPr lang="en-US" sz="1600" b="1" dirty="0">
                <a:solidFill>
                  <a:srgbClr val="2222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효과를 증명한 사례가 없다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8375904" y="3429000"/>
            <a:ext cx="2971800" cy="1417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15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예산을 투입해도 그게 실제로 효과가 있었는지 검증할 방법이</a:t>
            </a:r>
            <a:endParaRPr lang="en-US" sz="1150" dirty="0"/>
          </a:p>
          <a:p>
            <a:pPr indent="0" marL="0">
              <a:lnSpc>
                <a:spcPts val="1600"/>
              </a:lnSpc>
              <a:buNone/>
            </a:pPr>
            <a:r>
              <a:rPr lang="en-US" sz="115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없어서 다음 해 예산 편성 근거가 매번 약해진다.</a:t>
            </a:r>
            <a:endParaRPr lang="en-US" sz="1150" dirty="0"/>
          </a:p>
        </p:txBody>
      </p:sp>
      <p:sp>
        <p:nvSpPr>
          <p:cNvPr id="23" name="Shape 21"/>
          <p:cNvSpPr/>
          <p:nvPr/>
        </p:nvSpPr>
        <p:spPr>
          <a:xfrm>
            <a:off x="8375904" y="4937760"/>
            <a:ext cx="2971800" cy="822960"/>
          </a:xfrm>
          <a:prstGeom prst="roundRect">
            <a:avLst>
              <a:gd name="adj" fmla="val 6667"/>
            </a:avLst>
          </a:prstGeom>
          <a:solidFill>
            <a:srgbClr val="008080"/>
          </a:solidFill>
          <a:ln/>
        </p:spPr>
      </p:sp>
      <p:sp>
        <p:nvSpPr>
          <p:cNvPr id="24" name="Text 22"/>
          <p:cNvSpPr/>
          <p:nvPr/>
        </p:nvSpPr>
        <p:spPr>
          <a:xfrm>
            <a:off x="8513064" y="4937760"/>
            <a:ext cx="26974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연도별 시간 분할 검증으로 자연 대조군 생성</a:t>
            </a:r>
            <a:endParaRPr lang="en-US" sz="1150" dirty="0"/>
          </a:p>
        </p:txBody>
      </p:sp>
      <p:sp>
        <p:nvSpPr>
          <p:cNvPr id="25" name="Text 23"/>
          <p:cNvSpPr/>
          <p:nvPr/>
        </p:nvSpPr>
        <p:spPr>
          <a:xfrm>
            <a:off x="457200" y="653796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6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OncoCare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11338560" y="653796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6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0058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F4E7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한 문장 정의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48640" y="1005840"/>
            <a:ext cx="11064240" cy="1051560"/>
          </a:xfrm>
          <a:prstGeom prst="roundRect">
            <a:avLst>
              <a:gd name="adj" fmla="val 6957"/>
            </a:avLst>
          </a:prstGeom>
          <a:solidFill>
            <a:srgbClr val="1F4E78"/>
          </a:solidFill>
          <a:ln/>
        </p:spPr>
      </p:sp>
      <p:sp>
        <p:nvSpPr>
          <p:cNvPr id="4" name="Text 2"/>
          <p:cNvSpPr/>
          <p:nvPr/>
        </p:nvSpPr>
        <p:spPr>
          <a:xfrm>
            <a:off x="822960" y="1005840"/>
            <a:ext cx="1051560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i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예산이 어디로 가야 하는지 여건을 통제해 판단하고, 그 예산이 효과가 있었는지 검증한다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548640" y="233172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사용자 3단계 — 같은 화면, 조회 범위만 달라짐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548640" y="2880360"/>
            <a:ext cx="3291840" cy="914400"/>
          </a:xfrm>
          <a:prstGeom prst="roundRect">
            <a:avLst>
              <a:gd name="adj" fmla="val 6000"/>
            </a:avLst>
          </a:prstGeom>
          <a:solidFill>
            <a:srgbClr val="F2F4F7"/>
          </a:solidFill>
          <a:ln w="12700">
            <a:solidFill>
              <a:srgbClr val="00808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31520" y="2880360"/>
            <a:ext cx="8229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0808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1차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1554480" y="2953512"/>
            <a:ext cx="548640" cy="7680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250" b="1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국립암센터</a:t>
            </a:r>
            <a:endParaRPr lang="en-US" sz="1250" dirty="0"/>
          </a:p>
          <a:p>
            <a:pPr indent="0" marL="0">
              <a:lnSpc>
                <a:spcPts val="1400"/>
              </a:lnSpc>
              <a:buNone/>
            </a:pPr>
            <a:r>
              <a:rPr lang="en-US" sz="1250" b="1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보건복지부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2148840" y="2880360"/>
            <a:ext cx="15544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B76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전국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548640" y="3995928"/>
            <a:ext cx="4206240" cy="914400"/>
          </a:xfrm>
          <a:prstGeom prst="roundRect">
            <a:avLst>
              <a:gd name="adj" fmla="val 6000"/>
            </a:avLst>
          </a:prstGeom>
          <a:solidFill>
            <a:srgbClr val="F2F4F7"/>
          </a:solidFill>
          <a:ln w="12700">
            <a:solidFill>
              <a:srgbClr val="00808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31520" y="3995928"/>
            <a:ext cx="8229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0808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2차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1554480" y="4069080"/>
            <a:ext cx="1463040" cy="7680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250" b="1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지역암센터 13곳</a:t>
            </a:r>
            <a:endParaRPr lang="en-US" sz="1250" dirty="0"/>
          </a:p>
          <a:p>
            <a:pPr indent="0" marL="0">
              <a:lnSpc>
                <a:spcPts val="1400"/>
              </a:lnSpc>
              <a:buNone/>
            </a:pPr>
            <a:r>
              <a:rPr lang="en-US" sz="1250" b="1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시·도 17곳</a:t>
            </a:r>
            <a:endParaRPr lang="en-US" sz="1250" dirty="0"/>
          </a:p>
        </p:txBody>
      </p:sp>
      <p:sp>
        <p:nvSpPr>
          <p:cNvPr id="13" name="Text 11"/>
          <p:cNvSpPr/>
          <p:nvPr/>
        </p:nvSpPr>
        <p:spPr>
          <a:xfrm>
            <a:off x="3063240" y="3995928"/>
            <a:ext cx="15544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B76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권역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548640" y="5111496"/>
            <a:ext cx="5120640" cy="914400"/>
          </a:xfrm>
          <a:prstGeom prst="roundRect">
            <a:avLst>
              <a:gd name="adj" fmla="val 6000"/>
            </a:avLst>
          </a:prstGeom>
          <a:solidFill>
            <a:srgbClr val="F2F4F7"/>
          </a:solidFill>
          <a:ln w="12700">
            <a:solidFill>
              <a:srgbClr val="00808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31520" y="5111496"/>
            <a:ext cx="8229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0808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3차</a:t>
            </a:r>
            <a:endParaRPr lang="en-US" sz="2000" dirty="0"/>
          </a:p>
        </p:txBody>
      </p:sp>
      <p:sp>
        <p:nvSpPr>
          <p:cNvPr id="16" name="Text 14"/>
          <p:cNvSpPr/>
          <p:nvPr/>
        </p:nvSpPr>
        <p:spPr>
          <a:xfrm>
            <a:off x="1554480" y="5184648"/>
            <a:ext cx="2377440" cy="7680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250" b="1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보건소 252곳</a:t>
            </a:r>
            <a:endParaRPr lang="en-US" sz="1250" dirty="0"/>
          </a:p>
        </p:txBody>
      </p:sp>
      <p:sp>
        <p:nvSpPr>
          <p:cNvPr id="17" name="Text 15"/>
          <p:cNvSpPr/>
          <p:nvPr/>
        </p:nvSpPr>
        <p:spPr>
          <a:xfrm>
            <a:off x="3977640" y="5111496"/>
            <a:ext cx="15544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B76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관할 시군구 · 전 화면 사용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548640" y="5532120"/>
            <a:ext cx="10789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6B76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해결하는 문제 3가지가 3단계 사용자 모두에게 동일하게 적용된다 — 화면을 이원화하지 않는다.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457200" y="653796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6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OncoCare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11338560" y="653796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6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0058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F4E7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전체 구조 — 4단계 파이프라인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96012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B76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AI(LLM)는 숫자를 만들지 않는다 — 모든 수치는 사전 계산 산출물에서만 나온다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685800" y="2148840"/>
            <a:ext cx="2331720" cy="2194560"/>
          </a:xfrm>
          <a:prstGeom prst="roundRect">
            <a:avLst>
              <a:gd name="adj" fmla="val 3333"/>
            </a:avLst>
          </a:prstGeom>
          <a:solidFill>
            <a:srgbClr val="1F4E78"/>
          </a:solidFill>
          <a:ln/>
          <a:effectLst>
            <a:outerShdw sx="100000" sy="100000" kx="0" ky="0" algn="bl" rotWithShape="0" blurRad="76200" dist="25400" dir="5400000">
              <a:srgbClr val="999999">
                <a:alpha val="3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1559052" y="2377440"/>
            <a:ext cx="585216" cy="585216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6" name="Text 4"/>
          <p:cNvSpPr/>
          <p:nvPr/>
        </p:nvSpPr>
        <p:spPr>
          <a:xfrm>
            <a:off x="1559052" y="2377440"/>
            <a:ext cx="585216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F4E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822960" y="3108960"/>
            <a:ext cx="2057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데이터 파이프라인</a:t>
            </a:r>
            <a:endParaRPr lang="en-US" sz="1450" dirty="0"/>
          </a:p>
        </p:txBody>
      </p:sp>
      <p:sp>
        <p:nvSpPr>
          <p:cNvPr id="8" name="Text 6"/>
          <p:cNvSpPr/>
          <p:nvPr/>
        </p:nvSpPr>
        <p:spPr>
          <a:xfrm>
            <a:off x="822960" y="3566160"/>
            <a:ext cx="20574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ts val="1300"/>
              </a:lnSpc>
              <a:buNone/>
            </a:pPr>
            <a:r>
              <a:rPr lang="en-US" sz="1050" dirty="0">
                <a:solidFill>
                  <a:srgbClr val="EAF0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공공데이터 5종 결합</a:t>
            </a:r>
            <a:endParaRPr lang="en-US" sz="1050" dirty="0"/>
          </a:p>
          <a:p>
            <a:pPr algn="ctr" indent="0" marL="0">
              <a:lnSpc>
                <a:spcPts val="1300"/>
              </a:lnSpc>
              <a:buNone/>
            </a:pPr>
            <a:r>
              <a:rPr lang="en-US" sz="1050" dirty="0">
                <a:solidFill>
                  <a:srgbClr val="EAF0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89,299개 세그먼트 생성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3017520" y="2926080"/>
            <a:ext cx="5029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6B76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600" dirty="0"/>
          </a:p>
        </p:txBody>
      </p:sp>
      <p:sp>
        <p:nvSpPr>
          <p:cNvPr id="10" name="Shape 8"/>
          <p:cNvSpPr/>
          <p:nvPr/>
        </p:nvSpPr>
        <p:spPr>
          <a:xfrm>
            <a:off x="3520440" y="2148840"/>
            <a:ext cx="2331720" cy="2194560"/>
          </a:xfrm>
          <a:prstGeom prst="roundRect">
            <a:avLst>
              <a:gd name="adj" fmla="val 3333"/>
            </a:avLst>
          </a:prstGeom>
          <a:solidFill>
            <a:srgbClr val="008080"/>
          </a:solidFill>
          <a:ln/>
          <a:effectLst>
            <a:outerShdw sx="100000" sy="100000" kx="0" ky="0" algn="bl" rotWithShape="0" blurRad="76200" dist="25400" dir="5400000">
              <a:srgbClr val="999999">
                <a:alpha val="30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393692" y="2377440"/>
            <a:ext cx="585216" cy="585216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12" name="Text 10"/>
          <p:cNvSpPr/>
          <p:nvPr/>
        </p:nvSpPr>
        <p:spPr>
          <a:xfrm>
            <a:off x="4393692" y="2377440"/>
            <a:ext cx="585216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08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2000" dirty="0"/>
          </a:p>
        </p:txBody>
      </p:sp>
      <p:sp>
        <p:nvSpPr>
          <p:cNvPr id="13" name="Text 11"/>
          <p:cNvSpPr/>
          <p:nvPr/>
        </p:nvSpPr>
        <p:spPr>
          <a:xfrm>
            <a:off x="3657600" y="3108960"/>
            <a:ext cx="2057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분석 모델 4종</a:t>
            </a:r>
            <a:endParaRPr lang="en-US" sz="1450" dirty="0"/>
          </a:p>
        </p:txBody>
      </p:sp>
      <p:sp>
        <p:nvSpPr>
          <p:cNvPr id="14" name="Text 12"/>
          <p:cNvSpPr/>
          <p:nvPr/>
        </p:nvSpPr>
        <p:spPr>
          <a:xfrm>
            <a:off x="3657600" y="3566160"/>
            <a:ext cx="20574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ts val="1300"/>
              </a:lnSpc>
              <a:buNone/>
            </a:pPr>
            <a:r>
              <a:rPr lang="en-US" sz="1050" dirty="0">
                <a:solidFill>
                  <a:srgbClr val="EAF0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기대치·계수·유사지역</a:t>
            </a:r>
            <a:endParaRPr lang="en-US" sz="1050" dirty="0"/>
          </a:p>
          <a:p>
            <a:pPr algn="ctr" indent="0" marL="0">
              <a:lnSpc>
                <a:spcPts val="1300"/>
              </a:lnSpc>
              <a:buNone/>
            </a:pPr>
            <a:r>
              <a:rPr lang="en-US" sz="1050" dirty="0">
                <a:solidFill>
                  <a:srgbClr val="EAF0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층화 사전 계산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5852160" y="2926080"/>
            <a:ext cx="5029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6B76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600" dirty="0"/>
          </a:p>
        </p:txBody>
      </p:sp>
      <p:sp>
        <p:nvSpPr>
          <p:cNvPr id="16" name="Shape 14"/>
          <p:cNvSpPr/>
          <p:nvPr/>
        </p:nvSpPr>
        <p:spPr>
          <a:xfrm>
            <a:off x="6355080" y="2148840"/>
            <a:ext cx="2331720" cy="2194560"/>
          </a:xfrm>
          <a:prstGeom prst="roundRect">
            <a:avLst>
              <a:gd name="adj" fmla="val 3333"/>
            </a:avLst>
          </a:prstGeom>
          <a:solidFill>
            <a:srgbClr val="1F4E78"/>
          </a:solidFill>
          <a:ln/>
          <a:effectLst>
            <a:outerShdw sx="100000" sy="100000" kx="0" ky="0" algn="bl" rotWithShape="0" blurRad="76200" dist="25400" dir="5400000">
              <a:srgbClr val="999999">
                <a:alpha val="30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7228332" y="2377440"/>
            <a:ext cx="585216" cy="585216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18" name="Text 16"/>
          <p:cNvSpPr/>
          <p:nvPr/>
        </p:nvSpPr>
        <p:spPr>
          <a:xfrm>
            <a:off x="7228332" y="2377440"/>
            <a:ext cx="585216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F4E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2000" dirty="0"/>
          </a:p>
        </p:txBody>
      </p:sp>
      <p:sp>
        <p:nvSpPr>
          <p:cNvPr id="19" name="Text 17"/>
          <p:cNvSpPr/>
          <p:nvPr/>
        </p:nvSpPr>
        <p:spPr>
          <a:xfrm>
            <a:off x="6492240" y="3108960"/>
            <a:ext cx="2057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FastAPI</a:t>
            </a:r>
            <a:endParaRPr lang="en-US" sz="1450" dirty="0"/>
          </a:p>
        </p:txBody>
      </p:sp>
      <p:sp>
        <p:nvSpPr>
          <p:cNvPr id="20" name="Text 18"/>
          <p:cNvSpPr/>
          <p:nvPr/>
        </p:nvSpPr>
        <p:spPr>
          <a:xfrm>
            <a:off x="6492240" y="3566160"/>
            <a:ext cx="20574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ts val="1300"/>
              </a:lnSpc>
              <a:buNone/>
            </a:pPr>
            <a:r>
              <a:rPr lang="en-US" sz="1050" dirty="0">
                <a:solidFill>
                  <a:srgbClr val="EAF0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조회 6종 (LLM 미사용)</a:t>
            </a:r>
            <a:endParaRPr lang="en-US" sz="1050" dirty="0"/>
          </a:p>
          <a:p>
            <a:pPr algn="ctr" indent="0" marL="0">
              <a:lnSpc>
                <a:spcPts val="1300"/>
              </a:lnSpc>
              <a:buNone/>
            </a:pPr>
            <a:r>
              <a:rPr lang="en-US" sz="1050" dirty="0">
                <a:solidFill>
                  <a:srgbClr val="EAF0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생성 2종 (Gemini)</a:t>
            </a:r>
            <a:endParaRPr lang="en-US" sz="1050" dirty="0"/>
          </a:p>
        </p:txBody>
      </p:sp>
      <p:sp>
        <p:nvSpPr>
          <p:cNvPr id="21" name="Text 19"/>
          <p:cNvSpPr/>
          <p:nvPr/>
        </p:nvSpPr>
        <p:spPr>
          <a:xfrm>
            <a:off x="8686800" y="2926080"/>
            <a:ext cx="5029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6B76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600" dirty="0"/>
          </a:p>
        </p:txBody>
      </p:sp>
      <p:sp>
        <p:nvSpPr>
          <p:cNvPr id="22" name="Shape 20"/>
          <p:cNvSpPr/>
          <p:nvPr/>
        </p:nvSpPr>
        <p:spPr>
          <a:xfrm>
            <a:off x="9189720" y="2148840"/>
            <a:ext cx="2331720" cy="2194560"/>
          </a:xfrm>
          <a:prstGeom prst="roundRect">
            <a:avLst>
              <a:gd name="adj" fmla="val 3333"/>
            </a:avLst>
          </a:prstGeom>
          <a:solidFill>
            <a:srgbClr val="008080"/>
          </a:solidFill>
          <a:ln/>
          <a:effectLst>
            <a:outerShdw sx="100000" sy="100000" kx="0" ky="0" algn="bl" rotWithShape="0" blurRad="76200" dist="25400" dir="5400000">
              <a:srgbClr val="999999">
                <a:alpha val="30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10062972" y="2377440"/>
            <a:ext cx="585216" cy="585216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24" name="Text 22"/>
          <p:cNvSpPr/>
          <p:nvPr/>
        </p:nvSpPr>
        <p:spPr>
          <a:xfrm>
            <a:off x="10062972" y="2377440"/>
            <a:ext cx="585216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08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2000" dirty="0"/>
          </a:p>
        </p:txBody>
      </p:sp>
      <p:sp>
        <p:nvSpPr>
          <p:cNvPr id="25" name="Text 23"/>
          <p:cNvSpPr/>
          <p:nvPr/>
        </p:nvSpPr>
        <p:spPr>
          <a:xfrm>
            <a:off x="9326880" y="3108960"/>
            <a:ext cx="2057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웹 화면 9종</a:t>
            </a:r>
            <a:endParaRPr lang="en-US" sz="1450" dirty="0"/>
          </a:p>
        </p:txBody>
      </p:sp>
      <p:sp>
        <p:nvSpPr>
          <p:cNvPr id="26" name="Text 24"/>
          <p:cNvSpPr/>
          <p:nvPr/>
        </p:nvSpPr>
        <p:spPr>
          <a:xfrm>
            <a:off x="9326880" y="3566160"/>
            <a:ext cx="20574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ts val="1300"/>
              </a:lnSpc>
              <a:buNone/>
            </a:pPr>
            <a:r>
              <a:rPr lang="en-US" sz="1050" dirty="0">
                <a:solidFill>
                  <a:srgbClr val="EAF0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HTML·CSS·JS</a:t>
            </a:r>
            <a:endParaRPr lang="en-US" sz="1050" dirty="0"/>
          </a:p>
          <a:p>
            <a:pPr algn="ctr" indent="0" marL="0">
              <a:lnSpc>
                <a:spcPts val="1300"/>
              </a:lnSpc>
              <a:buNone/>
            </a:pPr>
            <a:r>
              <a:rPr lang="en-US" sz="1050" dirty="0">
                <a:solidFill>
                  <a:srgbClr val="EAF0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프레임워크 없음</a:t>
            </a:r>
            <a:endParaRPr lang="en-US" sz="1050" dirty="0"/>
          </a:p>
        </p:txBody>
      </p:sp>
      <p:sp>
        <p:nvSpPr>
          <p:cNvPr id="27" name="Shape 25"/>
          <p:cNvSpPr/>
          <p:nvPr/>
        </p:nvSpPr>
        <p:spPr>
          <a:xfrm>
            <a:off x="685800" y="4709160"/>
            <a:ext cx="10607040" cy="1417320"/>
          </a:xfrm>
          <a:prstGeom prst="roundRect">
            <a:avLst>
              <a:gd name="adj" fmla="val 5161"/>
            </a:avLst>
          </a:prstGeom>
          <a:solidFill>
            <a:srgbClr val="F2F4F7"/>
          </a:solidFill>
          <a:ln/>
        </p:spPr>
      </p:sp>
      <p:sp>
        <p:nvSpPr>
          <p:cNvPr id="28" name="Text 26"/>
          <p:cNvSpPr/>
          <p:nvPr/>
        </p:nvSpPr>
        <p:spPr>
          <a:xfrm>
            <a:off x="914400" y="4709160"/>
            <a:ext cx="10149840" cy="1417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250" b="1" dirty="0">
                <a:solidFill>
                  <a:srgbClr val="E05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절대 규칙 — </a:t>
            </a:r>
            <a:pPr indent="0" marL="0">
              <a:lnSpc>
                <a:spcPts val="1700"/>
              </a:lnSpc>
              <a:buNone/>
            </a:pPr>
            <a:r>
              <a:rPr lang="en-US" sz="12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조회 API(query.py)는 llm 모듈을 import하지 않는다. 담당자가 화면 문장을 예산요구서에 옮겨 적기 때문에, 같은 요청에는 항상 같은 값이 반환되어야 한다. 이 규칙은 </a:t>
            </a:r>
            <a:pPr indent="0" marL="0">
              <a:lnSpc>
                <a:spcPts val="1700"/>
              </a:lnSpc>
              <a:buNone/>
            </a:pPr>
            <a:r>
              <a:rPr lang="en-US" sz="1250" dirty="0">
                <a:solidFill>
                  <a:srgbClr val="1F4E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tests/test_no_llm_in_query.py</a:t>
            </a:r>
            <a:pPr indent="0" marL="0">
              <a:lnSpc>
                <a:spcPts val="1700"/>
              </a:lnSpc>
              <a:buNone/>
            </a:pPr>
            <a:r>
              <a:rPr lang="en-US" sz="12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로 자동 검증된다.</a:t>
            </a:r>
            <a:endParaRPr lang="en-US" sz="1250" dirty="0"/>
          </a:p>
        </p:txBody>
      </p:sp>
      <p:sp>
        <p:nvSpPr>
          <p:cNvPr id="29" name="Text 27"/>
          <p:cNvSpPr/>
          <p:nvPr/>
        </p:nvSpPr>
        <p:spPr>
          <a:xfrm>
            <a:off x="457200" y="653796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6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OncoCare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11338560" y="653796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6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0058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F4E7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데이터 파이프라인 — S1 ~ S6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960120"/>
            <a:ext cx="10789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B76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공공데이터 5종 → segments.parquet 89,299행 · 단계마다 통과 기준(게이트) 미달 시 다음 단계로 넘어가지 않는다</a:t>
            </a:r>
            <a:endParaRPr lang="en-US" sz="1250" dirty="0"/>
          </a:p>
        </p:txBody>
      </p:sp>
      <p:sp>
        <p:nvSpPr>
          <p:cNvPr id="4" name="Shape 2"/>
          <p:cNvSpPr/>
          <p:nvPr/>
        </p:nvSpPr>
        <p:spPr>
          <a:xfrm>
            <a:off x="822960" y="3017520"/>
            <a:ext cx="10515600" cy="0"/>
          </a:xfrm>
          <a:prstGeom prst="line">
            <a:avLst/>
          </a:prstGeom>
          <a:noFill/>
          <a:ln w="38100">
            <a:solidFill>
              <a:srgbClr val="D8DEE6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02920" y="2697480"/>
            <a:ext cx="640080" cy="640080"/>
          </a:xfrm>
          <a:prstGeom prst="ellipse">
            <a:avLst/>
          </a:prstGeom>
          <a:solidFill>
            <a:srgbClr val="1F4E78"/>
          </a:solidFill>
          <a:ln/>
        </p:spPr>
      </p:sp>
      <p:sp>
        <p:nvSpPr>
          <p:cNvPr id="6" name="Text 4"/>
          <p:cNvSpPr/>
          <p:nvPr/>
        </p:nvSpPr>
        <p:spPr>
          <a:xfrm>
            <a:off x="502920" y="269748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S1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274320" y="1417320"/>
            <a:ext cx="1554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원천 로드</a:t>
            </a:r>
            <a:endParaRPr lang="en-US" sz="1250" dirty="0"/>
          </a:p>
        </p:txBody>
      </p:sp>
      <p:sp>
        <p:nvSpPr>
          <p:cNvPr id="8" name="Text 6"/>
          <p:cNvSpPr/>
          <p:nvPr/>
        </p:nvSpPr>
        <p:spPr>
          <a:xfrm>
            <a:off x="274320" y="1783080"/>
            <a:ext cx="18288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ts val="1100"/>
              </a:lnSpc>
              <a:buNone/>
            </a:pPr>
            <a:r>
              <a:rPr lang="en-US" sz="950" dirty="0">
                <a:solidFill>
                  <a:srgbClr val="6B76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인코딩·시트 분기 처리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2606040" y="2697480"/>
            <a:ext cx="640080" cy="640080"/>
          </a:xfrm>
          <a:prstGeom prst="ellipse">
            <a:avLst/>
          </a:prstGeom>
          <a:solidFill>
            <a:srgbClr val="008080"/>
          </a:solidFill>
          <a:ln/>
        </p:spPr>
      </p:sp>
      <p:sp>
        <p:nvSpPr>
          <p:cNvPr id="10" name="Text 8"/>
          <p:cNvSpPr/>
          <p:nvPr/>
        </p:nvSpPr>
        <p:spPr>
          <a:xfrm>
            <a:off x="2606040" y="269748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S2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2148840" y="3520440"/>
            <a:ext cx="1554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표준화</a:t>
            </a:r>
            <a:endParaRPr lang="en-US" sz="1250" dirty="0"/>
          </a:p>
        </p:txBody>
      </p:sp>
      <p:sp>
        <p:nvSpPr>
          <p:cNvPr id="12" name="Text 10"/>
          <p:cNvSpPr/>
          <p:nvPr/>
        </p:nvSpPr>
        <p:spPr>
          <a:xfrm>
            <a:off x="2011680" y="3886200"/>
            <a:ext cx="18288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ts val="1100"/>
              </a:lnSpc>
              <a:buNone/>
            </a:pPr>
            <a:r>
              <a:rPr lang="en-US" sz="950" dirty="0">
                <a:solidFill>
                  <a:srgbClr val="6B76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시도명 17개·후행공백 0건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4709160" y="2697480"/>
            <a:ext cx="640080" cy="640080"/>
          </a:xfrm>
          <a:prstGeom prst="ellipse">
            <a:avLst/>
          </a:prstGeom>
          <a:solidFill>
            <a:srgbClr val="1F4E78"/>
          </a:solidFill>
          <a:ln/>
        </p:spPr>
      </p:sp>
      <p:sp>
        <p:nvSpPr>
          <p:cNvPr id="14" name="Text 12"/>
          <p:cNvSpPr/>
          <p:nvPr/>
        </p:nvSpPr>
        <p:spPr>
          <a:xfrm>
            <a:off x="4709160" y="269748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S3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4251960" y="1417320"/>
            <a:ext cx="1554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결합</a:t>
            </a:r>
            <a:endParaRPr lang="en-US" sz="1250" dirty="0"/>
          </a:p>
        </p:txBody>
      </p:sp>
      <p:sp>
        <p:nvSpPr>
          <p:cNvPr id="16" name="Text 14"/>
          <p:cNvSpPr/>
          <p:nvPr/>
        </p:nvSpPr>
        <p:spPr>
          <a:xfrm>
            <a:off x="4114800" y="1783080"/>
            <a:ext cx="18288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ts val="1100"/>
              </a:lnSpc>
              <a:buNone/>
            </a:pPr>
            <a:r>
              <a:rPr lang="en-US" sz="950" dirty="0">
                <a:solidFill>
                  <a:srgbClr val="6B76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매칭률 검진기관≥99%·소득≥85%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6812280" y="2697480"/>
            <a:ext cx="640080" cy="640080"/>
          </a:xfrm>
          <a:prstGeom prst="ellipse">
            <a:avLst/>
          </a:prstGeom>
          <a:solidFill>
            <a:srgbClr val="008080"/>
          </a:solidFill>
          <a:ln/>
        </p:spPr>
      </p:sp>
      <p:sp>
        <p:nvSpPr>
          <p:cNvPr id="18" name="Text 16"/>
          <p:cNvSpPr/>
          <p:nvPr/>
        </p:nvSpPr>
        <p:spPr>
          <a:xfrm>
            <a:off x="6812280" y="269748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S4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6355080" y="3520440"/>
            <a:ext cx="1554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wide→long</a:t>
            </a:r>
            <a:endParaRPr lang="en-US" sz="1250" dirty="0"/>
          </a:p>
        </p:txBody>
      </p:sp>
      <p:sp>
        <p:nvSpPr>
          <p:cNvPr id="20" name="Text 18"/>
          <p:cNvSpPr/>
          <p:nvPr/>
        </p:nvSpPr>
        <p:spPr>
          <a:xfrm>
            <a:off x="6217920" y="3886200"/>
            <a:ext cx="18288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ts val="1100"/>
              </a:lnSpc>
              <a:buNone/>
            </a:pPr>
            <a:r>
              <a:rPr lang="en-US" sz="950" dirty="0">
                <a:solidFill>
                  <a:srgbClr val="6B76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89,299행·수검률 0~100 이탈 0건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8915400" y="2697480"/>
            <a:ext cx="640080" cy="640080"/>
          </a:xfrm>
          <a:prstGeom prst="ellipse">
            <a:avLst/>
          </a:prstGeom>
          <a:solidFill>
            <a:srgbClr val="1F4E78"/>
          </a:solidFill>
          <a:ln/>
        </p:spPr>
      </p:sp>
      <p:sp>
        <p:nvSpPr>
          <p:cNvPr id="22" name="Text 20"/>
          <p:cNvSpPr/>
          <p:nvPr/>
        </p:nvSpPr>
        <p:spPr>
          <a:xfrm>
            <a:off x="8915400" y="269748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S5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8458200" y="1417320"/>
            <a:ext cx="1554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파생 피처</a:t>
            </a:r>
            <a:endParaRPr lang="en-US" sz="1250" dirty="0"/>
          </a:p>
        </p:txBody>
      </p:sp>
      <p:sp>
        <p:nvSpPr>
          <p:cNvPr id="24" name="Text 22"/>
          <p:cNvSpPr/>
          <p:nvPr/>
        </p:nvSpPr>
        <p:spPr>
          <a:xfrm>
            <a:off x="8321040" y="1783080"/>
            <a:ext cx="18288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ts val="1100"/>
              </a:lnSpc>
              <a:buNone/>
            </a:pPr>
            <a:r>
              <a:rPr lang="en-US" sz="950" dirty="0">
                <a:solidFill>
                  <a:srgbClr val="6B76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15개 피처·시차변수·결측 0건</a:t>
            </a:r>
            <a:endParaRPr lang="en-US" sz="950" dirty="0"/>
          </a:p>
        </p:txBody>
      </p:sp>
      <p:sp>
        <p:nvSpPr>
          <p:cNvPr id="25" name="Shape 23"/>
          <p:cNvSpPr/>
          <p:nvPr/>
        </p:nvSpPr>
        <p:spPr>
          <a:xfrm>
            <a:off x="11018520" y="2697480"/>
            <a:ext cx="640080" cy="640080"/>
          </a:xfrm>
          <a:prstGeom prst="ellipse">
            <a:avLst/>
          </a:prstGeom>
          <a:solidFill>
            <a:srgbClr val="008080"/>
          </a:solidFill>
          <a:ln/>
        </p:spPr>
      </p:sp>
      <p:sp>
        <p:nvSpPr>
          <p:cNvPr id="26" name="Text 24"/>
          <p:cNvSpPr/>
          <p:nvPr/>
        </p:nvSpPr>
        <p:spPr>
          <a:xfrm>
            <a:off x="11018520" y="269748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S6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10332720" y="3520440"/>
            <a:ext cx="1554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시간 분할</a:t>
            </a:r>
            <a:endParaRPr lang="en-US" sz="1250" dirty="0"/>
          </a:p>
        </p:txBody>
      </p:sp>
      <p:sp>
        <p:nvSpPr>
          <p:cNvPr id="28" name="Text 26"/>
          <p:cNvSpPr/>
          <p:nvPr/>
        </p:nvSpPr>
        <p:spPr>
          <a:xfrm>
            <a:off x="10058400" y="3886200"/>
            <a:ext cx="18288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ts val="1100"/>
              </a:lnSpc>
              <a:buNone/>
            </a:pPr>
            <a:r>
              <a:rPr lang="en-US" sz="950" dirty="0">
                <a:solidFill>
                  <a:srgbClr val="6B76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2023 학습 / 2024 검증</a:t>
            </a:r>
            <a:endParaRPr lang="en-US" sz="950" dirty="0"/>
          </a:p>
        </p:txBody>
      </p:sp>
      <p:sp>
        <p:nvSpPr>
          <p:cNvPr id="29" name="Shape 27"/>
          <p:cNvSpPr/>
          <p:nvPr/>
        </p:nvSpPr>
        <p:spPr>
          <a:xfrm>
            <a:off x="685800" y="5394960"/>
            <a:ext cx="10607040" cy="777240"/>
          </a:xfrm>
          <a:prstGeom prst="roundRect">
            <a:avLst>
              <a:gd name="adj" fmla="val 7059"/>
            </a:avLst>
          </a:prstGeom>
          <a:solidFill>
            <a:srgbClr val="F2F4F7"/>
          </a:solidFill>
          <a:ln/>
        </p:spPr>
      </p:sp>
      <p:sp>
        <p:nvSpPr>
          <p:cNvPr id="30" name="Text 28"/>
          <p:cNvSpPr/>
          <p:nvPr/>
        </p:nvSpPr>
        <p:spPr>
          <a:xfrm>
            <a:off x="868680" y="5394960"/>
            <a:ext cx="102412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검증 게이트 6건이 모두 pytest(tests/test_pipeline.py)로 자동 확인된다 — 수작업 확인에 의존하지 않는다.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457200" y="653796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6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OncoCare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11338560" y="653796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6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0789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4E7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분석 모델 4종 — 서로 다른 질문에 답한다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548640" y="1051560"/>
            <a:ext cx="5349240" cy="2148840"/>
          </a:xfrm>
          <a:prstGeom prst="roundRect">
            <a:avLst>
              <a:gd name="adj" fmla="val 3404"/>
            </a:avLst>
          </a:prstGeom>
          <a:solidFill>
            <a:srgbClr val="F2F4F7"/>
          </a:solidFill>
          <a:ln/>
          <a:effectLst>
            <a:outerShdw sx="100000" sy="100000" kx="0" ky="0" algn="bl" rotWithShape="0" blurRad="63500" dist="25400" dir="5400000">
              <a:srgbClr val="999999">
                <a:alpha val="22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777240" y="1280160"/>
            <a:ext cx="502920" cy="502920"/>
          </a:xfrm>
          <a:prstGeom prst="ellipse">
            <a:avLst/>
          </a:prstGeom>
          <a:solidFill>
            <a:srgbClr val="1F4E78"/>
          </a:solidFill>
          <a:ln/>
        </p:spPr>
      </p:sp>
      <p:sp>
        <p:nvSpPr>
          <p:cNvPr id="5" name="Text 3"/>
          <p:cNvSpPr/>
          <p:nvPr/>
        </p:nvSpPr>
        <p:spPr>
          <a:xfrm>
            <a:off x="777240" y="128016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①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1417320" y="1252728"/>
            <a:ext cx="4251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222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기대치 모델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417320" y="1645920"/>
            <a:ext cx="4251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F4E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HistGradientBoostingRegressor</a:t>
            </a:r>
            <a:endParaRPr lang="en-US" sz="950" dirty="0"/>
          </a:p>
        </p:txBody>
      </p:sp>
      <p:sp>
        <p:nvSpPr>
          <p:cNvPr id="8" name="Text 6"/>
          <p:cNvSpPr/>
          <p:nvPr/>
        </p:nvSpPr>
        <p:spPr>
          <a:xfrm>
            <a:off x="822960" y="2103120"/>
            <a:ext cx="4800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여기, 원래 얼마나 받아야 하나?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822960" y="2651760"/>
            <a:ext cx="4800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F4E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우선순위 화면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6217920" y="1051560"/>
            <a:ext cx="5349240" cy="2148840"/>
          </a:xfrm>
          <a:prstGeom prst="roundRect">
            <a:avLst>
              <a:gd name="adj" fmla="val 3404"/>
            </a:avLst>
          </a:prstGeom>
          <a:solidFill>
            <a:srgbClr val="F2F4F7"/>
          </a:solidFill>
          <a:ln/>
          <a:effectLst>
            <a:outerShdw sx="100000" sy="100000" kx="0" ky="0" algn="bl" rotWithShape="0" blurRad="63500" dist="25400" dir="5400000">
              <a:srgbClr val="999999">
                <a:alpha val="22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6446520" y="1280160"/>
            <a:ext cx="502920" cy="502920"/>
          </a:xfrm>
          <a:prstGeom prst="ellipse">
            <a:avLst/>
          </a:prstGeom>
          <a:solidFill>
            <a:srgbClr val="008080"/>
          </a:solidFill>
          <a:ln/>
        </p:spPr>
      </p:sp>
      <p:sp>
        <p:nvSpPr>
          <p:cNvPr id="12" name="Text 10"/>
          <p:cNvSpPr/>
          <p:nvPr/>
        </p:nvSpPr>
        <p:spPr>
          <a:xfrm>
            <a:off x="6446520" y="128016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②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7086600" y="1252728"/>
            <a:ext cx="4251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222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계수 해석 모델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7086600" y="1645920"/>
            <a:ext cx="4251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0080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LinearRegression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6492240" y="2103120"/>
            <a:ext cx="4800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왜 낮은가, 무엇 때문인가?</a:t>
            </a:r>
            <a:endParaRPr lang="en-US" sz="1250" dirty="0"/>
          </a:p>
        </p:txBody>
      </p:sp>
      <p:sp>
        <p:nvSpPr>
          <p:cNvPr id="16" name="Text 14"/>
          <p:cNvSpPr/>
          <p:nvPr/>
        </p:nvSpPr>
        <p:spPr>
          <a:xfrm>
            <a:off x="6492240" y="2651760"/>
            <a:ext cx="4800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08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요인 분석 화면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548640" y="3474720"/>
            <a:ext cx="5349240" cy="2148840"/>
          </a:xfrm>
          <a:prstGeom prst="roundRect">
            <a:avLst>
              <a:gd name="adj" fmla="val 3404"/>
            </a:avLst>
          </a:prstGeom>
          <a:solidFill>
            <a:srgbClr val="F2F4F7"/>
          </a:solidFill>
          <a:ln/>
          <a:effectLst>
            <a:outerShdw sx="100000" sy="100000" kx="0" ky="0" algn="bl" rotWithShape="0" blurRad="63500" dist="25400" dir="5400000">
              <a:srgbClr val="999999">
                <a:alpha val="22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777240" y="3703320"/>
            <a:ext cx="502920" cy="502920"/>
          </a:xfrm>
          <a:prstGeom prst="ellipse">
            <a:avLst/>
          </a:prstGeom>
          <a:solidFill>
            <a:srgbClr val="1F4E78"/>
          </a:solidFill>
          <a:ln/>
        </p:spPr>
      </p:sp>
      <p:sp>
        <p:nvSpPr>
          <p:cNvPr id="19" name="Text 17"/>
          <p:cNvSpPr/>
          <p:nvPr/>
        </p:nvSpPr>
        <p:spPr>
          <a:xfrm>
            <a:off x="777240" y="370332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③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1417320" y="3675888"/>
            <a:ext cx="4251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222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유사 지역 매칭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1417320" y="4069080"/>
            <a:ext cx="4251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F4E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NearestNeighbors (kNN, k=20)</a:t>
            </a:r>
            <a:endParaRPr lang="en-US" sz="950" dirty="0"/>
          </a:p>
        </p:txBody>
      </p:sp>
      <p:sp>
        <p:nvSpPr>
          <p:cNvPr id="22" name="Text 20"/>
          <p:cNvSpPr/>
          <p:nvPr/>
        </p:nvSpPr>
        <p:spPr>
          <a:xfrm>
            <a:off x="822960" y="4526280"/>
            <a:ext cx="4800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비슷한 동네는 실제로 얼마나 하나?</a:t>
            </a:r>
            <a:endParaRPr lang="en-US" sz="1250" dirty="0"/>
          </a:p>
        </p:txBody>
      </p:sp>
      <p:sp>
        <p:nvSpPr>
          <p:cNvPr id="23" name="Text 21"/>
          <p:cNvSpPr/>
          <p:nvPr/>
        </p:nvSpPr>
        <p:spPr>
          <a:xfrm>
            <a:off x="822960" y="5074920"/>
            <a:ext cx="4800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F4E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비교 화면</a:t>
            </a:r>
            <a:endParaRPr lang="en-US" sz="1150" dirty="0"/>
          </a:p>
        </p:txBody>
      </p:sp>
      <p:sp>
        <p:nvSpPr>
          <p:cNvPr id="24" name="Shape 22"/>
          <p:cNvSpPr/>
          <p:nvPr/>
        </p:nvSpPr>
        <p:spPr>
          <a:xfrm>
            <a:off x="6217920" y="3474720"/>
            <a:ext cx="5349240" cy="2148840"/>
          </a:xfrm>
          <a:prstGeom prst="roundRect">
            <a:avLst>
              <a:gd name="adj" fmla="val 3404"/>
            </a:avLst>
          </a:prstGeom>
          <a:solidFill>
            <a:srgbClr val="F2F4F7"/>
          </a:solidFill>
          <a:ln/>
          <a:effectLst>
            <a:outerShdw sx="100000" sy="100000" kx="0" ky="0" algn="bl" rotWithShape="0" blurRad="63500" dist="25400" dir="5400000">
              <a:srgbClr val="999999">
                <a:alpha val="22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6446520" y="3703320"/>
            <a:ext cx="502920" cy="502920"/>
          </a:xfrm>
          <a:prstGeom prst="ellipse">
            <a:avLst/>
          </a:prstGeom>
          <a:solidFill>
            <a:srgbClr val="008080"/>
          </a:solidFill>
          <a:ln/>
        </p:spPr>
      </p:sp>
      <p:sp>
        <p:nvSpPr>
          <p:cNvPr id="26" name="Text 24"/>
          <p:cNvSpPr/>
          <p:nvPr/>
        </p:nvSpPr>
        <p:spPr>
          <a:xfrm>
            <a:off x="6446520" y="370332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④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7086600" y="3675888"/>
            <a:ext cx="4251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222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층화 분석</a:t>
            </a:r>
            <a:endParaRPr lang="en-US" sz="1600" dirty="0"/>
          </a:p>
        </p:txBody>
      </p:sp>
      <p:sp>
        <p:nvSpPr>
          <p:cNvPr id="28" name="Text 26"/>
          <p:cNvSpPr/>
          <p:nvPr/>
        </p:nvSpPr>
        <p:spPr>
          <a:xfrm>
            <a:off x="7086600" y="4069080"/>
            <a:ext cx="4251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0080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도농×소득 9개 층 집계</a:t>
            </a:r>
            <a:endParaRPr lang="en-US" sz="950" dirty="0"/>
          </a:p>
        </p:txBody>
      </p:sp>
      <p:sp>
        <p:nvSpPr>
          <p:cNvPr id="29" name="Text 27"/>
          <p:cNvSpPr/>
          <p:nvPr/>
        </p:nvSpPr>
        <p:spPr>
          <a:xfrm>
            <a:off x="6492240" y="4526280"/>
            <a:ext cx="4800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조건을 맞추면 진짜 차이가 있나?</a:t>
            </a:r>
            <a:endParaRPr lang="en-US" sz="1250" dirty="0"/>
          </a:p>
        </p:txBody>
      </p:sp>
      <p:sp>
        <p:nvSpPr>
          <p:cNvPr id="30" name="Text 28"/>
          <p:cNvSpPr/>
          <p:nvPr/>
        </p:nvSpPr>
        <p:spPr>
          <a:xfrm>
            <a:off x="6492240" y="5074920"/>
            <a:ext cx="4800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08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요인 분석 보조</a:t>
            </a:r>
            <a:endParaRPr lang="en-US" sz="1150" dirty="0"/>
          </a:p>
        </p:txBody>
      </p:sp>
      <p:sp>
        <p:nvSpPr>
          <p:cNvPr id="31" name="Text 29"/>
          <p:cNvSpPr/>
          <p:nvPr/>
        </p:nvSpPr>
        <p:spPr>
          <a:xfrm>
            <a:off x="457200" y="653796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6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OncoCare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11338560" y="653796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6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4E7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모델 성능 검증 결과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48640" y="86868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B76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기대치 모델(①) — 2023년 학습 · 2024년 검증(무작위 분할 아님)</a:t>
            </a:r>
            <a:endParaRPr lang="en-US" sz="1250" dirty="0"/>
          </a:p>
        </p:txBody>
      </p:sp>
      <p:sp>
        <p:nvSpPr>
          <p:cNvPr id="4" name="Shape 2"/>
          <p:cNvSpPr/>
          <p:nvPr/>
        </p:nvSpPr>
        <p:spPr>
          <a:xfrm>
            <a:off x="548640" y="1417320"/>
            <a:ext cx="2103120" cy="1417320"/>
          </a:xfrm>
          <a:prstGeom prst="roundRect">
            <a:avLst>
              <a:gd name="adj" fmla="val 5161"/>
            </a:avLst>
          </a:prstGeom>
          <a:solidFill>
            <a:srgbClr val="F2F4F7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1508760"/>
            <a:ext cx="21031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00808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0.88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548640" y="2194560"/>
            <a:ext cx="21031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R² (설명력)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548640" y="2496312"/>
            <a:ext cx="2103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6B76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기준 ≥ 0.85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2788920" y="1417320"/>
            <a:ext cx="2103120" cy="1417320"/>
          </a:xfrm>
          <a:prstGeom prst="roundRect">
            <a:avLst>
              <a:gd name="adj" fmla="val 5161"/>
            </a:avLst>
          </a:prstGeom>
          <a:solidFill>
            <a:srgbClr val="F2F4F7"/>
          </a:solidFill>
          <a:ln/>
        </p:spPr>
      </p:sp>
      <p:sp>
        <p:nvSpPr>
          <p:cNvPr id="9" name="Text 7"/>
          <p:cNvSpPr/>
          <p:nvPr/>
        </p:nvSpPr>
        <p:spPr>
          <a:xfrm>
            <a:off x="2788920" y="1508760"/>
            <a:ext cx="21031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00808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4.29%p</a:t>
            </a:r>
            <a:endParaRPr lang="en-US" sz="3000" dirty="0"/>
          </a:p>
        </p:txBody>
      </p:sp>
      <p:sp>
        <p:nvSpPr>
          <p:cNvPr id="10" name="Text 8"/>
          <p:cNvSpPr/>
          <p:nvPr/>
        </p:nvSpPr>
        <p:spPr>
          <a:xfrm>
            <a:off x="2788920" y="2194560"/>
            <a:ext cx="21031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평균 오차(MAE)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2788920" y="2496312"/>
            <a:ext cx="2103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6B76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기준 ≤ 4.5%p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5029200" y="1417320"/>
            <a:ext cx="2103120" cy="1417320"/>
          </a:xfrm>
          <a:prstGeom prst="roundRect">
            <a:avLst>
              <a:gd name="adj" fmla="val 5161"/>
            </a:avLst>
          </a:prstGeom>
          <a:solidFill>
            <a:srgbClr val="F2F4F7"/>
          </a:solidFill>
          <a:ln/>
        </p:spPr>
      </p:sp>
      <p:sp>
        <p:nvSpPr>
          <p:cNvPr id="13" name="Text 11"/>
          <p:cNvSpPr/>
          <p:nvPr/>
        </p:nvSpPr>
        <p:spPr>
          <a:xfrm>
            <a:off x="5029200" y="1508760"/>
            <a:ext cx="21031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1F4E7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0.04</a:t>
            </a:r>
            <a:endParaRPr lang="en-US" sz="3000" dirty="0"/>
          </a:p>
        </p:txBody>
      </p:sp>
      <p:sp>
        <p:nvSpPr>
          <p:cNvPr id="14" name="Text 12"/>
          <p:cNvSpPr/>
          <p:nvPr/>
        </p:nvSpPr>
        <p:spPr>
          <a:xfrm>
            <a:off x="5029200" y="2194560"/>
            <a:ext cx="21031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과적합 gap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5029200" y="2496312"/>
            <a:ext cx="2103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6B76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학습-검증 R² 차이</a:t>
            </a:r>
            <a:endParaRPr lang="en-US" sz="950" dirty="0"/>
          </a:p>
        </p:txBody>
      </p:sp>
      <p:sp>
        <p:nvSpPr>
          <p:cNvPr id="16" name="Text 14"/>
          <p:cNvSpPr/>
          <p:nvPr/>
        </p:nvSpPr>
        <p:spPr>
          <a:xfrm>
            <a:off x="7315200" y="1417320"/>
            <a:ext cx="4297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암종별 예측 오차 흩어짐 (표준편차, %p) — 폐암이 유독 큼</a:t>
            </a:r>
            <a:endParaRPr lang="en-US" sz="1100" dirty="0"/>
          </a:p>
        </p:txBody>
      </p:sp>
      <p:graphicFrame>
        <p:nvGraphicFramePr>
          <p:cNvPr id="17" name="Chart 0" descr=""/>
          <p:cNvGraphicFramePr/>
          <p:nvPr/>
        </p:nvGraphicFramePr>
        <p:xfrm>
          <a:off x="7315200" y="1691640"/>
          <a:ext cx="4297680" cy="27432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18" name="Shape 15"/>
          <p:cNvSpPr/>
          <p:nvPr/>
        </p:nvSpPr>
        <p:spPr>
          <a:xfrm>
            <a:off x="548640" y="3154680"/>
            <a:ext cx="6537960" cy="3108960"/>
          </a:xfrm>
          <a:prstGeom prst="roundRect">
            <a:avLst>
              <a:gd name="adj" fmla="val 2353"/>
            </a:avLst>
          </a:prstGeom>
          <a:solidFill>
            <a:srgbClr val="F2F4F7"/>
          </a:solidFill>
          <a:ln/>
        </p:spPr>
      </p:sp>
      <p:sp>
        <p:nvSpPr>
          <p:cNvPr id="19" name="Text 16"/>
          <p:cNvSpPr/>
          <p:nvPr/>
        </p:nvSpPr>
        <p:spPr>
          <a:xfrm>
            <a:off x="777240" y="3291840"/>
            <a:ext cx="6080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05A4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검증 중 발견한 리스크</a:t>
            </a:r>
            <a:endParaRPr lang="en-US" sz="1400" dirty="0"/>
          </a:p>
        </p:txBody>
      </p:sp>
      <p:sp>
        <p:nvSpPr>
          <p:cNvPr id="20" name="Text 17"/>
          <p:cNvSpPr/>
          <p:nvPr/>
        </p:nvSpPr>
        <p:spPr>
          <a:xfrm>
            <a:off x="777240" y="3703320"/>
            <a:ext cx="6080760" cy="2423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500"/>
              </a:lnSpc>
              <a:buNone/>
            </a:pPr>
            <a:r>
              <a:rPr lang="en-US" sz="1200" b="1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폐암·85세 이상 소표본 노이즈  </a:t>
            </a:r>
            <a:endParaRPr lang="en-US" sz="1200" dirty="0"/>
          </a:p>
          <a:p>
            <a:pPr indent="0" marL="0">
              <a:lnSpc>
                <a:spcPts val="1500"/>
              </a:lnSpc>
              <a:buNone/>
            </a:pPr>
            <a:r>
              <a:rPr lang="en-US" sz="11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극단 오차 상위 10건 중 8건이 소표본 세그먼트. 우선순위 산출 시 대상자 300명 미만·75세 이상은 제외 필터로 대응 중.</a:t>
            </a:r>
            <a:endParaRPr lang="en-US" sz="1200" dirty="0"/>
          </a:p>
          <a:p>
            <a:pPr indent="0" marL="0">
              <a:lnSpc>
                <a:spcPts val="1500"/>
              </a:lnSpc>
              <a:buNone/>
            </a:pPr>
            <a:endParaRPr lang="en-US" sz="1200" dirty="0"/>
          </a:p>
          <a:p>
            <a:pPr indent="0" marL="0">
              <a:lnSpc>
                <a:spcPts val="1500"/>
              </a:lnSpc>
              <a:buNone/>
            </a:pPr>
            <a:r>
              <a:rPr lang="en-US" sz="1200" b="1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관내 검진기관 유무 변수 불일치  </a:t>
            </a:r>
            <a:endParaRPr lang="en-US" sz="1200" dirty="0"/>
          </a:p>
          <a:p>
            <a:pPr indent="0" marL="0">
              <a:lnSpc>
                <a:spcPts val="1500"/>
              </a:lnSpc>
              <a:buNone/>
            </a:pPr>
            <a:r>
              <a:rPr lang="en-US" sz="11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예측 모델(①)은 이 변수 기여도가 거의 0인데, 설명 모델(②)은 핵심 근거(-3.7%p)로 사용 — 다중공선성 조사 진행 예정.</a:t>
            </a:r>
            <a:endParaRPr lang="en-US" sz="1200" dirty="0"/>
          </a:p>
        </p:txBody>
      </p:sp>
      <p:sp>
        <p:nvSpPr>
          <p:cNvPr id="21" name="Text 18"/>
          <p:cNvSpPr/>
          <p:nvPr/>
        </p:nvSpPr>
        <p:spPr>
          <a:xfrm>
            <a:off x="457200" y="653796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6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OncoCare</a:t>
            </a:r>
            <a:endParaRPr lang="en-US" sz="900" dirty="0"/>
          </a:p>
        </p:txBody>
      </p:sp>
      <p:sp>
        <p:nvSpPr>
          <p:cNvPr id="22" name="Text 19"/>
          <p:cNvSpPr/>
          <p:nvPr/>
        </p:nvSpPr>
        <p:spPr>
          <a:xfrm>
            <a:off x="11338560" y="653796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6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0789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4E7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화면 흐름 — 진단에서 실행, 기록까지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548640" y="1828800"/>
            <a:ext cx="1170432" cy="1737360"/>
          </a:xfrm>
          <a:prstGeom prst="roundRect">
            <a:avLst>
              <a:gd name="adj" fmla="val 5469"/>
            </a:avLst>
          </a:prstGeom>
          <a:solidFill>
            <a:srgbClr val="1F4E78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1938528"/>
            <a:ext cx="117043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603504" y="2468880"/>
            <a:ext cx="1060704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ts val="1200"/>
              </a:lnSpc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우리 구</a:t>
            </a:r>
            <a:endParaRPr lang="en-US" sz="1000" dirty="0"/>
          </a:p>
          <a:p>
            <a:pPr algn="ctr" indent="0" marL="0">
              <a:lnSpc>
                <a:spcPts val="1200"/>
              </a:lnSpc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현황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1773936" y="1828800"/>
            <a:ext cx="1170432" cy="1737360"/>
          </a:xfrm>
          <a:prstGeom prst="roundRect">
            <a:avLst>
              <a:gd name="adj" fmla="val 5469"/>
            </a:avLst>
          </a:prstGeom>
          <a:solidFill>
            <a:srgbClr val="1F4E78"/>
          </a:solidFill>
          <a:ln/>
        </p:spPr>
      </p:sp>
      <p:sp>
        <p:nvSpPr>
          <p:cNvPr id="7" name="Text 5"/>
          <p:cNvSpPr/>
          <p:nvPr/>
        </p:nvSpPr>
        <p:spPr>
          <a:xfrm>
            <a:off x="1773936" y="1938528"/>
            <a:ext cx="117043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1828800" y="2468880"/>
            <a:ext cx="1060704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ts val="1200"/>
              </a:lnSpc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어디부터</a:t>
            </a:r>
            <a:endParaRPr lang="en-US" sz="1000" dirty="0"/>
          </a:p>
          <a:p>
            <a:pPr algn="ctr" indent="0" marL="0">
              <a:lnSpc>
                <a:spcPts val="1200"/>
              </a:lnSpc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할까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2999232" y="1828800"/>
            <a:ext cx="1170432" cy="1737360"/>
          </a:xfrm>
          <a:prstGeom prst="roundRect">
            <a:avLst>
              <a:gd name="adj" fmla="val 5469"/>
            </a:avLst>
          </a:prstGeom>
          <a:solidFill>
            <a:srgbClr val="1F4E78"/>
          </a:solidFill>
          <a:ln/>
        </p:spPr>
      </p:sp>
      <p:sp>
        <p:nvSpPr>
          <p:cNvPr id="10" name="Text 8"/>
          <p:cNvSpPr/>
          <p:nvPr/>
        </p:nvSpPr>
        <p:spPr>
          <a:xfrm>
            <a:off x="2999232" y="1938528"/>
            <a:ext cx="117043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3054096" y="2468880"/>
            <a:ext cx="1060704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ts val="1200"/>
              </a:lnSpc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왜</a:t>
            </a:r>
            <a:endParaRPr lang="en-US" sz="1000" dirty="0"/>
          </a:p>
          <a:p>
            <a:pPr algn="ctr" indent="0" marL="0">
              <a:lnSpc>
                <a:spcPts val="1200"/>
              </a:lnSpc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낮을까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4224528" y="1828800"/>
            <a:ext cx="1170432" cy="1737360"/>
          </a:xfrm>
          <a:prstGeom prst="roundRect">
            <a:avLst>
              <a:gd name="adj" fmla="val 5469"/>
            </a:avLst>
          </a:prstGeom>
          <a:solidFill>
            <a:srgbClr val="1F4E78"/>
          </a:solidFill>
          <a:ln/>
        </p:spPr>
      </p:sp>
      <p:sp>
        <p:nvSpPr>
          <p:cNvPr id="13" name="Text 11"/>
          <p:cNvSpPr/>
          <p:nvPr/>
        </p:nvSpPr>
        <p:spPr>
          <a:xfrm>
            <a:off x="4224528" y="1938528"/>
            <a:ext cx="117043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4279392" y="2468880"/>
            <a:ext cx="1060704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ts val="1200"/>
              </a:lnSpc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다른 지역은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5449824" y="1828800"/>
            <a:ext cx="1170432" cy="1737360"/>
          </a:xfrm>
          <a:prstGeom prst="roundRect">
            <a:avLst>
              <a:gd name="adj" fmla="val 5469"/>
            </a:avLst>
          </a:prstGeom>
          <a:solidFill>
            <a:srgbClr val="1F4E78"/>
          </a:solidFill>
          <a:ln/>
        </p:spPr>
      </p:sp>
      <p:sp>
        <p:nvSpPr>
          <p:cNvPr id="16" name="Text 14"/>
          <p:cNvSpPr/>
          <p:nvPr/>
        </p:nvSpPr>
        <p:spPr>
          <a:xfrm>
            <a:off x="5449824" y="1938528"/>
            <a:ext cx="117043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5504688" y="2468880"/>
            <a:ext cx="1060704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ts val="1200"/>
              </a:lnSpc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무엇을</a:t>
            </a:r>
            <a:endParaRPr lang="en-US" sz="1000" dirty="0"/>
          </a:p>
          <a:p>
            <a:pPr algn="ctr" indent="0" marL="0">
              <a:lnSpc>
                <a:spcPts val="1200"/>
              </a:lnSpc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할까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6675120" y="1828800"/>
            <a:ext cx="1170432" cy="1737360"/>
          </a:xfrm>
          <a:prstGeom prst="roundRect">
            <a:avLst>
              <a:gd name="adj" fmla="val 5469"/>
            </a:avLst>
          </a:prstGeom>
          <a:solidFill>
            <a:srgbClr val="1F4E78"/>
          </a:solidFill>
          <a:ln/>
        </p:spPr>
      </p:sp>
      <p:sp>
        <p:nvSpPr>
          <p:cNvPr id="19" name="Text 17"/>
          <p:cNvSpPr/>
          <p:nvPr/>
        </p:nvSpPr>
        <p:spPr>
          <a:xfrm>
            <a:off x="6675120" y="1938528"/>
            <a:ext cx="117043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2200" dirty="0"/>
          </a:p>
        </p:txBody>
      </p:sp>
      <p:sp>
        <p:nvSpPr>
          <p:cNvPr id="20" name="Text 18"/>
          <p:cNvSpPr/>
          <p:nvPr/>
        </p:nvSpPr>
        <p:spPr>
          <a:xfrm>
            <a:off x="6729984" y="2468880"/>
            <a:ext cx="1060704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ts val="1200"/>
              </a:lnSpc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연락 명단</a:t>
            </a:r>
            <a:endParaRPr lang="en-US" sz="1000" dirty="0"/>
          </a:p>
          <a:p>
            <a:pPr algn="ctr" indent="0" marL="0">
              <a:lnSpc>
                <a:spcPts val="1200"/>
              </a:lnSpc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만들기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7900416" y="1828800"/>
            <a:ext cx="1170432" cy="1737360"/>
          </a:xfrm>
          <a:prstGeom prst="roundRect">
            <a:avLst>
              <a:gd name="adj" fmla="val 5469"/>
            </a:avLst>
          </a:prstGeom>
          <a:solidFill>
            <a:srgbClr val="008080"/>
          </a:solidFill>
          <a:ln/>
        </p:spPr>
      </p:sp>
      <p:sp>
        <p:nvSpPr>
          <p:cNvPr id="22" name="Text 20"/>
          <p:cNvSpPr/>
          <p:nvPr/>
        </p:nvSpPr>
        <p:spPr>
          <a:xfrm>
            <a:off x="7900416" y="1938528"/>
            <a:ext cx="117043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</a:t>
            </a:r>
            <a:endParaRPr lang="en-US" sz="2200" dirty="0"/>
          </a:p>
        </p:txBody>
      </p:sp>
      <p:sp>
        <p:nvSpPr>
          <p:cNvPr id="23" name="Text 21"/>
          <p:cNvSpPr/>
          <p:nvPr/>
        </p:nvSpPr>
        <p:spPr>
          <a:xfrm>
            <a:off x="7955280" y="2468880"/>
            <a:ext cx="1060704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ts val="1200"/>
              </a:lnSpc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안내문</a:t>
            </a:r>
            <a:endParaRPr lang="en-US" sz="1000" dirty="0"/>
          </a:p>
          <a:p>
            <a:pPr algn="ctr" indent="0" marL="0">
              <a:lnSpc>
                <a:spcPts val="1200"/>
              </a:lnSpc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만들기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9125712" y="1828800"/>
            <a:ext cx="1170432" cy="1737360"/>
          </a:xfrm>
          <a:prstGeom prst="roundRect">
            <a:avLst>
              <a:gd name="adj" fmla="val 5469"/>
            </a:avLst>
          </a:prstGeom>
          <a:solidFill>
            <a:srgbClr val="008080"/>
          </a:solidFill>
          <a:ln/>
        </p:spPr>
      </p:sp>
      <p:sp>
        <p:nvSpPr>
          <p:cNvPr id="25" name="Text 23"/>
          <p:cNvSpPr/>
          <p:nvPr/>
        </p:nvSpPr>
        <p:spPr>
          <a:xfrm>
            <a:off x="9125712" y="1938528"/>
            <a:ext cx="117043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</a:t>
            </a:r>
            <a:endParaRPr lang="en-US" sz="2200" dirty="0"/>
          </a:p>
        </p:txBody>
      </p:sp>
      <p:sp>
        <p:nvSpPr>
          <p:cNvPr id="26" name="Text 24"/>
          <p:cNvSpPr/>
          <p:nvPr/>
        </p:nvSpPr>
        <p:spPr>
          <a:xfrm>
            <a:off x="9180576" y="2468880"/>
            <a:ext cx="1060704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ts val="1200"/>
              </a:lnSpc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보고서</a:t>
            </a:r>
            <a:endParaRPr lang="en-US" sz="1000" dirty="0"/>
          </a:p>
          <a:p>
            <a:pPr algn="ctr" indent="0" marL="0">
              <a:lnSpc>
                <a:spcPts val="1200"/>
              </a:lnSpc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만들기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10351008" y="1828800"/>
            <a:ext cx="1170432" cy="1737360"/>
          </a:xfrm>
          <a:prstGeom prst="roundRect">
            <a:avLst>
              <a:gd name="adj" fmla="val 5469"/>
            </a:avLst>
          </a:prstGeom>
          <a:solidFill>
            <a:srgbClr val="1F4E78"/>
          </a:solidFill>
          <a:ln/>
        </p:spPr>
      </p:sp>
      <p:sp>
        <p:nvSpPr>
          <p:cNvPr id="28" name="Text 26"/>
          <p:cNvSpPr/>
          <p:nvPr/>
        </p:nvSpPr>
        <p:spPr>
          <a:xfrm>
            <a:off x="10351008" y="1938528"/>
            <a:ext cx="117043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</a:t>
            </a:r>
            <a:endParaRPr lang="en-US" sz="2200" dirty="0"/>
          </a:p>
        </p:txBody>
      </p:sp>
      <p:sp>
        <p:nvSpPr>
          <p:cNvPr id="29" name="Text 27"/>
          <p:cNvSpPr/>
          <p:nvPr/>
        </p:nvSpPr>
        <p:spPr>
          <a:xfrm>
            <a:off x="10405872" y="2468880"/>
            <a:ext cx="1060704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ts val="1200"/>
              </a:lnSpc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실행</a:t>
            </a:r>
            <a:endParaRPr lang="en-US" sz="1000" dirty="0"/>
          </a:p>
          <a:p>
            <a:pPr algn="ctr" indent="0" marL="0">
              <a:lnSpc>
                <a:spcPts val="1200"/>
              </a:lnSpc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기록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640080" y="3931920"/>
            <a:ext cx="164592" cy="164592"/>
          </a:xfrm>
          <a:prstGeom prst="ellipse">
            <a:avLst/>
          </a:prstGeom>
          <a:solidFill>
            <a:srgbClr val="008080"/>
          </a:solidFill>
          <a:ln/>
        </p:spPr>
      </p:sp>
      <p:sp>
        <p:nvSpPr>
          <p:cNvPr id="31" name="Text 29"/>
          <p:cNvSpPr/>
          <p:nvPr/>
        </p:nvSpPr>
        <p:spPr>
          <a:xfrm>
            <a:off x="914400" y="379476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6B76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★ 표시 = Gemini LLM 생성 엔드포인트 사용 (그 외 화면은 조회만, LLM 미사용)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548640" y="4434840"/>
            <a:ext cx="10835640" cy="1691640"/>
          </a:xfrm>
          <a:prstGeom prst="roundRect">
            <a:avLst>
              <a:gd name="adj" fmla="val 4324"/>
            </a:avLst>
          </a:prstGeom>
          <a:solidFill>
            <a:srgbClr val="F2F4F7"/>
          </a:solidFill>
          <a:ln/>
        </p:spPr>
      </p:sp>
      <p:sp>
        <p:nvSpPr>
          <p:cNvPr id="33" name="Text 31"/>
          <p:cNvSpPr/>
          <p:nvPr/>
        </p:nvSpPr>
        <p:spPr>
          <a:xfrm>
            <a:off x="822960" y="4617720"/>
            <a:ext cx="20116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F4E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조회(LLM 없음)</a:t>
            </a:r>
            <a:endParaRPr lang="en-US" sz="1200" dirty="0"/>
          </a:p>
        </p:txBody>
      </p:sp>
      <p:sp>
        <p:nvSpPr>
          <p:cNvPr id="34" name="Text 32"/>
          <p:cNvSpPr/>
          <p:nvPr/>
        </p:nvSpPr>
        <p:spPr>
          <a:xfrm>
            <a:off x="2926080" y="461772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1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[0]~[5], [8] — 사전 계산된 수치를 그대로 표시. 같은 요청은 항상 같은 값.</a:t>
            </a:r>
            <a:endParaRPr lang="en-US" sz="1150" dirty="0"/>
          </a:p>
        </p:txBody>
      </p:sp>
      <p:sp>
        <p:nvSpPr>
          <p:cNvPr id="35" name="Text 33"/>
          <p:cNvSpPr/>
          <p:nvPr/>
        </p:nvSpPr>
        <p:spPr>
          <a:xfrm>
            <a:off x="822960" y="5303520"/>
            <a:ext cx="20116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F4E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생성(LLM 사용)</a:t>
            </a:r>
            <a:endParaRPr lang="en-US" sz="1200" dirty="0"/>
          </a:p>
        </p:txBody>
      </p:sp>
      <p:sp>
        <p:nvSpPr>
          <p:cNvPr id="36" name="Text 34"/>
          <p:cNvSpPr/>
          <p:nvPr/>
        </p:nvSpPr>
        <p:spPr>
          <a:xfrm>
            <a:off x="2926080" y="530352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1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[6] 안내문, [7] 보고서 — 조회 결과 수치를 프롬프트에 인용시켜 문장만 생성. 새 숫자를 만들지 않고, 생성 후 수치 검증을 거친다.</a:t>
            </a:r>
            <a:endParaRPr lang="en-US" sz="1150" dirty="0"/>
          </a:p>
        </p:txBody>
      </p:sp>
      <p:sp>
        <p:nvSpPr>
          <p:cNvPr id="37" name="Text 35"/>
          <p:cNvSpPr/>
          <p:nvPr/>
        </p:nvSpPr>
        <p:spPr>
          <a:xfrm>
            <a:off x="457200" y="653796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6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OncoCare</a:t>
            </a:r>
            <a:endParaRPr lang="en-US" sz="900" dirty="0"/>
          </a:p>
        </p:txBody>
      </p:sp>
      <p:sp>
        <p:nvSpPr>
          <p:cNvPr id="38" name="Text 36"/>
          <p:cNvSpPr/>
          <p:nvPr/>
        </p:nvSpPr>
        <p:spPr>
          <a:xfrm>
            <a:off x="11338560" y="653796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6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0058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F4E7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기술 스택과 절대 원칙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1097280"/>
            <a:ext cx="5120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8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기술 스택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548640" y="1508760"/>
            <a:ext cx="1691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파이프라인·분석</a:t>
            </a:r>
            <a:endParaRPr lang="en-US" sz="1150" dirty="0"/>
          </a:p>
        </p:txBody>
      </p:sp>
      <p:sp>
        <p:nvSpPr>
          <p:cNvPr id="5" name="Text 3"/>
          <p:cNvSpPr/>
          <p:nvPr/>
        </p:nvSpPr>
        <p:spPr>
          <a:xfrm>
            <a:off x="2286000" y="1508760"/>
            <a:ext cx="3383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68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Python 3.12 · pandas · scikit-learn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548640" y="1965960"/>
            <a:ext cx="5120640" cy="0"/>
          </a:xfrm>
          <a:prstGeom prst="line">
            <a:avLst/>
          </a:prstGeom>
          <a:noFill/>
          <a:ln w="9525">
            <a:solidFill>
              <a:srgbClr val="E5E9EE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48640" y="2011680"/>
            <a:ext cx="1691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모델</a:t>
            </a:r>
            <a:endParaRPr lang="en-US" sz="1150" dirty="0"/>
          </a:p>
        </p:txBody>
      </p:sp>
      <p:sp>
        <p:nvSpPr>
          <p:cNvPr id="8" name="Text 6"/>
          <p:cNvSpPr/>
          <p:nvPr/>
        </p:nvSpPr>
        <p:spPr>
          <a:xfrm>
            <a:off x="2286000" y="2011680"/>
            <a:ext cx="3383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68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HistGradientBoostingRegressor (sklearn 기본)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548640" y="2468880"/>
            <a:ext cx="5120640" cy="0"/>
          </a:xfrm>
          <a:prstGeom prst="line">
            <a:avLst/>
          </a:prstGeom>
          <a:noFill/>
          <a:ln w="9525">
            <a:solidFill>
              <a:srgbClr val="E5E9EE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48640" y="2514600"/>
            <a:ext cx="1691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백엔드</a:t>
            </a:r>
            <a:endParaRPr lang="en-US" sz="1150" dirty="0"/>
          </a:p>
        </p:txBody>
      </p:sp>
      <p:sp>
        <p:nvSpPr>
          <p:cNvPr id="11" name="Text 9"/>
          <p:cNvSpPr/>
          <p:nvPr/>
        </p:nvSpPr>
        <p:spPr>
          <a:xfrm>
            <a:off x="2286000" y="2514600"/>
            <a:ext cx="3383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68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FastAPI + uvicorn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548640" y="2971800"/>
            <a:ext cx="5120640" cy="0"/>
          </a:xfrm>
          <a:prstGeom prst="line">
            <a:avLst/>
          </a:prstGeom>
          <a:noFill/>
          <a:ln w="9525">
            <a:solidFill>
              <a:srgbClr val="E5E9EE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48640" y="3017520"/>
            <a:ext cx="1691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프론트엔드</a:t>
            </a:r>
            <a:endParaRPr lang="en-US" sz="1150" dirty="0"/>
          </a:p>
        </p:txBody>
      </p:sp>
      <p:sp>
        <p:nvSpPr>
          <p:cNvPr id="14" name="Text 12"/>
          <p:cNvSpPr/>
          <p:nvPr/>
        </p:nvSpPr>
        <p:spPr>
          <a:xfrm>
            <a:off x="2286000" y="3017520"/>
            <a:ext cx="3383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68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HTML / CSS / Vanilla JS — 프레임워크 없음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548640" y="3474720"/>
            <a:ext cx="5120640" cy="0"/>
          </a:xfrm>
          <a:prstGeom prst="line">
            <a:avLst/>
          </a:prstGeom>
          <a:noFill/>
          <a:ln w="9525">
            <a:solidFill>
              <a:srgbClr val="E5E9EE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48640" y="3520440"/>
            <a:ext cx="1691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</a:t>
            </a:r>
            <a:endParaRPr lang="en-US" sz="1150" dirty="0"/>
          </a:p>
        </p:txBody>
      </p:sp>
      <p:sp>
        <p:nvSpPr>
          <p:cNvPr id="17" name="Text 15"/>
          <p:cNvSpPr/>
          <p:nvPr/>
        </p:nvSpPr>
        <p:spPr>
          <a:xfrm>
            <a:off x="2286000" y="3520440"/>
            <a:ext cx="3383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68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Gemini API — 생성 엔드포인트에서만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548640" y="3977640"/>
            <a:ext cx="5120640" cy="0"/>
          </a:xfrm>
          <a:prstGeom prst="line">
            <a:avLst/>
          </a:prstGeom>
          <a:noFill/>
          <a:ln w="9525">
            <a:solidFill>
              <a:srgbClr val="E5E9EE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48640" y="4023360"/>
            <a:ext cx="1691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저장</a:t>
            </a:r>
            <a:endParaRPr lang="en-US" sz="1150" dirty="0"/>
          </a:p>
        </p:txBody>
      </p:sp>
      <p:sp>
        <p:nvSpPr>
          <p:cNvPr id="20" name="Text 18"/>
          <p:cNvSpPr/>
          <p:nvPr/>
        </p:nvSpPr>
        <p:spPr>
          <a:xfrm>
            <a:off x="2286000" y="4023360"/>
            <a:ext cx="3383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68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parquet(분석 산출물) · SQLite(실행 기록)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548640" y="4480560"/>
            <a:ext cx="5120640" cy="0"/>
          </a:xfrm>
          <a:prstGeom prst="line">
            <a:avLst/>
          </a:prstGeom>
          <a:noFill/>
          <a:ln w="9525">
            <a:solidFill>
              <a:srgbClr val="E5E9EE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035040" y="1097280"/>
            <a:ext cx="5120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05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개인정보 원칙</a:t>
            </a:r>
            <a:endParaRPr lang="en-US" sz="1300" dirty="0"/>
          </a:p>
        </p:txBody>
      </p:sp>
      <p:sp>
        <p:nvSpPr>
          <p:cNvPr id="23" name="Shape 21"/>
          <p:cNvSpPr/>
          <p:nvPr/>
        </p:nvSpPr>
        <p:spPr>
          <a:xfrm>
            <a:off x="6035040" y="1508760"/>
            <a:ext cx="5120640" cy="685800"/>
          </a:xfrm>
          <a:prstGeom prst="roundRect">
            <a:avLst>
              <a:gd name="adj" fmla="val 8000"/>
            </a:avLst>
          </a:prstGeom>
          <a:solidFill>
            <a:srgbClr val="F2F4F7"/>
          </a:solidFill>
          <a:ln/>
        </p:spPr>
      </p:sp>
      <p:sp>
        <p:nvSpPr>
          <p:cNvPr id="24" name="Text 22"/>
          <p:cNvSpPr/>
          <p:nvPr/>
        </p:nvSpPr>
        <p:spPr>
          <a:xfrm>
            <a:off x="6217920" y="1508760"/>
            <a:ext cx="11887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F4E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저장 금지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7452360" y="1508760"/>
            <a:ext cx="35661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200"/>
              </a:lnSpc>
              <a:buNone/>
            </a:pPr>
            <a:r>
              <a:rPr lang="en-US" sz="10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이름 · 주민번호 · 전화번호 · 주소 · 개인 수검 이력</a:t>
            </a:r>
            <a:endParaRPr lang="en-US" sz="1050" dirty="0"/>
          </a:p>
        </p:txBody>
      </p:sp>
      <p:sp>
        <p:nvSpPr>
          <p:cNvPr id="26" name="Shape 24"/>
          <p:cNvSpPr/>
          <p:nvPr/>
        </p:nvSpPr>
        <p:spPr>
          <a:xfrm>
            <a:off x="6035040" y="2331720"/>
            <a:ext cx="5120640" cy="685800"/>
          </a:xfrm>
          <a:prstGeom prst="roundRect">
            <a:avLst>
              <a:gd name="adj" fmla="val 8000"/>
            </a:avLst>
          </a:prstGeom>
          <a:solidFill>
            <a:srgbClr val="F2F4F7"/>
          </a:solidFill>
          <a:ln/>
        </p:spPr>
      </p:sp>
      <p:sp>
        <p:nvSpPr>
          <p:cNvPr id="27" name="Text 25"/>
          <p:cNvSpPr/>
          <p:nvPr/>
        </p:nvSpPr>
        <p:spPr>
          <a:xfrm>
            <a:off x="6217920" y="2331720"/>
            <a:ext cx="11887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F4E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저장 허용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7452360" y="2331720"/>
            <a:ext cx="35661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200"/>
              </a:lnSpc>
              <a:buNone/>
            </a:pPr>
            <a:r>
              <a:rPr lang="en-US" sz="10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세그먼트 ID · 배정군 · 연락 여부 · 발송 일자</a:t>
            </a:r>
            <a:endParaRPr lang="en-US" sz="1050" dirty="0"/>
          </a:p>
        </p:txBody>
      </p:sp>
      <p:sp>
        <p:nvSpPr>
          <p:cNvPr id="29" name="Text 27"/>
          <p:cNvSpPr/>
          <p:nvPr/>
        </p:nvSpPr>
        <p:spPr>
          <a:xfrm>
            <a:off x="6035040" y="3337560"/>
            <a:ext cx="5120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8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화면 표현 원칙 (예시)</a:t>
            </a:r>
            <a:endParaRPr lang="en-US" sz="1300" dirty="0"/>
          </a:p>
        </p:txBody>
      </p:sp>
      <p:sp>
        <p:nvSpPr>
          <p:cNvPr id="30" name="Text 28"/>
          <p:cNvSpPr/>
          <p:nvPr/>
        </p:nvSpPr>
        <p:spPr>
          <a:xfrm>
            <a:off x="6035040" y="3703320"/>
            <a:ext cx="2468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strike="sngStrike" dirty="0">
                <a:solidFill>
                  <a:srgbClr val="E05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✕ 목표 51.0%</a:t>
            </a:r>
            <a:endParaRPr lang="en-US" sz="1050" dirty="0"/>
          </a:p>
        </p:txBody>
      </p:sp>
      <p:sp>
        <p:nvSpPr>
          <p:cNvPr id="31" name="Text 29"/>
          <p:cNvSpPr/>
          <p:nvPr/>
        </p:nvSpPr>
        <p:spPr>
          <a:xfrm>
            <a:off x="8595360" y="3703320"/>
            <a:ext cx="2560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08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여건 유사 20곳 평균 51.0%</a:t>
            </a:r>
            <a:endParaRPr lang="en-US" sz="1050" dirty="0"/>
          </a:p>
        </p:txBody>
      </p:sp>
      <p:sp>
        <p:nvSpPr>
          <p:cNvPr id="32" name="Text 30"/>
          <p:cNvSpPr/>
          <p:nvPr/>
        </p:nvSpPr>
        <p:spPr>
          <a:xfrm>
            <a:off x="6035040" y="4069080"/>
            <a:ext cx="2468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strike="sngStrike" dirty="0">
                <a:solidFill>
                  <a:srgbClr val="E05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✕ AI가 예측한 값</a:t>
            </a:r>
            <a:endParaRPr lang="en-US" sz="1050" dirty="0"/>
          </a:p>
        </p:txBody>
      </p:sp>
      <p:sp>
        <p:nvSpPr>
          <p:cNvPr id="33" name="Text 31"/>
          <p:cNvSpPr/>
          <p:nvPr/>
        </p:nvSpPr>
        <p:spPr>
          <a:xfrm>
            <a:off x="8595360" y="4069080"/>
            <a:ext cx="2560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08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여건이 비슷한 20곳이 실제로 낸 평균</a:t>
            </a:r>
            <a:endParaRPr lang="en-US" sz="1050" dirty="0"/>
          </a:p>
        </p:txBody>
      </p:sp>
      <p:sp>
        <p:nvSpPr>
          <p:cNvPr id="34" name="Text 32"/>
          <p:cNvSpPr/>
          <p:nvPr/>
        </p:nvSpPr>
        <p:spPr>
          <a:xfrm>
            <a:off x="6035040" y="4526280"/>
            <a:ext cx="5120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1100" i="1" dirty="0">
                <a:solidFill>
                  <a:srgbClr val="6B76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"이 값은 평가가 아니라 검토 시작점입니다" — 모든 화면에 고정 배치</a:t>
            </a:r>
            <a:endParaRPr lang="en-US" sz="1100" dirty="0"/>
          </a:p>
        </p:txBody>
      </p:sp>
      <p:sp>
        <p:nvSpPr>
          <p:cNvPr id="35" name="Text 33"/>
          <p:cNvSpPr/>
          <p:nvPr/>
        </p:nvSpPr>
        <p:spPr>
          <a:xfrm>
            <a:off x="457200" y="653796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6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OncoCare</a:t>
            </a:r>
            <a:endParaRPr lang="en-US" sz="900" dirty="0"/>
          </a:p>
        </p:txBody>
      </p:sp>
      <p:sp>
        <p:nvSpPr>
          <p:cNvPr id="36" name="Text 34"/>
          <p:cNvSpPr/>
          <p:nvPr/>
        </p:nvSpPr>
        <p:spPr>
          <a:xfrm>
            <a:off x="11338560" y="653796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6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63A5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한계와 다음 단계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640080" y="1234440"/>
            <a:ext cx="5212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6FD9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범위 밖 — 하지 않는 것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640080" y="1691640"/>
            <a:ext cx="274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05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960120" y="1691640"/>
            <a:ext cx="4846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DDE6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개인 위험도 예측 (의료기기 규제 대상)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640080" y="2148840"/>
            <a:ext cx="274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05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960120" y="2148840"/>
            <a:ext cx="4846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DDE6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개인정보 수집·저장, 개인 명단 생성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640080" y="2606040"/>
            <a:ext cx="274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05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960120" y="2606040"/>
            <a:ext cx="4846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DDE6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개입 효과(uplift) 산출 — 개입 기록 부재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640080" y="3063240"/>
            <a:ext cx="274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05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960120" y="3063240"/>
            <a:ext cx="4846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DDE6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실시간 데이터 연동 — 공공데이터는 연 단위 갱신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640080" y="3520440"/>
            <a:ext cx="274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05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960120" y="3520440"/>
            <a:ext cx="4846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DDE6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'온코' 대화 기능 — 화면까지만, 기능은 2차 개발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6309360" y="1234440"/>
            <a:ext cx="5212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6FD9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알려진 한계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6309360" y="1691640"/>
            <a:ext cx="274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05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6629400" y="1691640"/>
            <a:ext cx="4846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DDE6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개입 효과를 산출할 수 없다 (개입 기록 부재)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6309360" y="2148840"/>
            <a:ext cx="274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05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6629400" y="2148840"/>
            <a:ext cx="4846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DDE6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검진기관 데이터 기준일 4년 시차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6309360" y="2606040"/>
            <a:ext cx="274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05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6629400" y="2606040"/>
            <a:ext cx="4846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DDE6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고소득 지역은 국가검진 외 수검이 미반영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6309360" y="3063240"/>
            <a:ext cx="274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05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6629400" y="3063240"/>
            <a:ext cx="4846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DDE6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지역 여건의 설명력은 전체의 약 5% 수준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640080" y="4160520"/>
            <a:ext cx="10881360" cy="1920240"/>
          </a:xfrm>
          <a:prstGeom prst="roundRect">
            <a:avLst>
              <a:gd name="adj" fmla="val 3810"/>
            </a:avLst>
          </a:prstGeom>
          <a:solidFill>
            <a:srgbClr val="1F4E78"/>
          </a:solidFill>
          <a:ln/>
        </p:spPr>
      </p:sp>
      <p:sp>
        <p:nvSpPr>
          <p:cNvPr id="24" name="Text 22"/>
          <p:cNvSpPr/>
          <p:nvPr/>
        </p:nvSpPr>
        <p:spPr>
          <a:xfrm>
            <a:off x="914400" y="4343400"/>
            <a:ext cx="10332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다음 단계 — 모델 성능 검증 계획</a:t>
            </a:r>
            <a:endParaRPr lang="en-US" sz="1500" dirty="0"/>
          </a:p>
        </p:txBody>
      </p:sp>
      <p:sp>
        <p:nvSpPr>
          <p:cNvPr id="25" name="Text 23"/>
          <p:cNvSpPr/>
          <p:nvPr/>
        </p:nvSpPr>
        <p:spPr>
          <a:xfrm>
            <a:off x="914400" y="4800600"/>
            <a:ext cx="102412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AF0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① 성능 게이트 자동화 테스트 신설 (tests/test_model_performance.py)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914400" y="5148072"/>
            <a:ext cx="102412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AF0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② 폐암·소표본 잔차 노이즈 원인 조사 및 학습 필터 반영 검토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914400" y="5495544"/>
            <a:ext cx="102412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AF0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③ 관내0 변수 다중공선성(VIF) 조사 — 화면 문구 정합성 확보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914400" y="5843016"/>
            <a:ext cx="102412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AF0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④ 계수·유사지역의 연도 간 안정성 검증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457200" y="653796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6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OncoCare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11338560" y="653796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6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온코케어 서비스 소개</dc:title>
  <dc:subject>PptxGenJS Presentation</dc:subject>
  <dc:creator>OncoCare</dc:creator>
  <cp:lastModifiedBy>OncoCare</cp:lastModifiedBy>
  <cp:revision>1</cp:revision>
  <dcterms:created xsi:type="dcterms:W3CDTF">2026-08-20T01:31:19Z</dcterms:created>
  <dcterms:modified xsi:type="dcterms:W3CDTF">2026-08-20T01:31:19Z</dcterms:modified>
</cp:coreProperties>
</file>